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handoutMasterIdLst>
    <p:handoutMasterId r:id="rId6"/>
  </p:handoutMasterIdLst>
  <p:sldIdLst>
    <p:sldId id="258" r:id="rId2"/>
    <p:sldId id="259" r:id="rId3"/>
    <p:sldId id="260" r:id="rId4"/>
  </p:sldIdLst>
  <p:sldSz cx="9906000" cy="6858000" type="A4"/>
  <p:notesSz cx="7102475" cy="93884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0" autoAdjust="0"/>
    <p:restoredTop sz="93897" autoAdjust="0"/>
  </p:normalViewPr>
  <p:slideViewPr>
    <p:cSldViewPr>
      <p:cViewPr varScale="1">
        <p:scale>
          <a:sx n="85" d="100"/>
          <a:sy n="85" d="100"/>
        </p:scale>
        <p:origin x="1685" y="53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3078513" cy="4698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2305" y="1"/>
            <a:ext cx="3078513" cy="4698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FA2AFA-D848-466E-A98F-C0C69A2EE3F4}" type="datetimeFigureOut">
              <a:rPr lang="en-US" smtClean="0"/>
              <a:pPr/>
              <a:t>9/3/2025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8917100"/>
            <a:ext cx="3078513" cy="4698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2305" y="8917100"/>
            <a:ext cx="3078513" cy="4698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5B3E63-C28B-454E-BA27-F6281E73670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0224817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3078513" cy="4698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2305" y="1"/>
            <a:ext cx="3078513" cy="4698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4BC544-BB03-4587-9B0A-48060E687D18}" type="datetimeFigureOut">
              <a:rPr lang="en-US" smtClean="0"/>
              <a:pPr/>
              <a:t>9/3/2025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09650" y="704850"/>
            <a:ext cx="5083175" cy="35194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9918" y="4460053"/>
            <a:ext cx="5682643" cy="42243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8917100"/>
            <a:ext cx="3078513" cy="4698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2305" y="8917100"/>
            <a:ext cx="3078513" cy="4698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006409-ADEF-4A21-8774-00E8A9B70C9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1177813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28339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93129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87222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2130426"/>
            <a:ext cx="84201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8877C-8961-49C1-9DB7-32A82DEE524B}" type="datetime1">
              <a:rPr lang="en-US" smtClean="0"/>
              <a:pPr/>
              <a:t>9/3/2025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9FDDE5-FA71-4994-9B15-EAA5D4580BA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D6974-FDBE-4870-BB89-212F94A77C90}" type="datetime1">
              <a:rPr lang="en-US" smtClean="0"/>
              <a:pPr/>
              <a:t>9/3/2025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9FDDE5-FA71-4994-9B15-EAA5D4580BA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506" y="4406901"/>
            <a:ext cx="84201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82506" y="2906713"/>
            <a:ext cx="84201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5936D-2689-40B5-A3F9-059912D98310}" type="datetime1">
              <a:rPr lang="en-US" smtClean="0"/>
              <a:pPr/>
              <a:t>9/3/2025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9FDDE5-FA71-4994-9B15-EAA5D4580BA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6575" y="1600201"/>
            <a:ext cx="474662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48300" y="1600201"/>
            <a:ext cx="474662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E62A56-B917-4633-AC4C-ABC282015AEC}" type="datetime1">
              <a:rPr lang="en-US" smtClean="0"/>
              <a:pPr/>
              <a:t>9/3/2025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9FDDE5-FA71-4994-9B15-EAA5D4580BA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87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87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32111" y="1535113"/>
            <a:ext cx="437859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32111" y="2174875"/>
            <a:ext cx="437859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8F6C9-4B96-4360-99D2-093C57AFC3EF}" type="datetime1">
              <a:rPr lang="en-US" smtClean="0"/>
              <a:pPr/>
              <a:t>9/3/2025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9FDDE5-FA71-4994-9B15-EAA5D4580BA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B15FB-E96C-4551-8DE1-DF44683C1992}" type="datetime1">
              <a:rPr lang="en-US" smtClean="0"/>
              <a:pPr/>
              <a:t>9/3/2025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9FDDE5-FA71-4994-9B15-EAA5D4580BA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51554-3FC8-4A31-944D-16FA6EDF4CC0}" type="datetime1">
              <a:rPr lang="en-US" smtClean="0"/>
              <a:pPr/>
              <a:t>9/3/2025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9FDDE5-FA71-4994-9B15-EAA5D4580BA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006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72971" y="273051"/>
            <a:ext cx="5537729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300" y="1435101"/>
            <a:ext cx="3259006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26F5D-C9F8-44F7-877D-0838ADA8470F}" type="datetime1">
              <a:rPr lang="en-US" smtClean="0"/>
              <a:pPr/>
              <a:t>9/3/2025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9FDDE5-FA71-4994-9B15-EAA5D4580BA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645" y="4800600"/>
            <a:ext cx="59436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41645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645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DB0E9-BE08-431C-A517-9759137EE29B}" type="datetime1">
              <a:rPr lang="en-US" smtClean="0"/>
              <a:pPr/>
              <a:t>9/3/2025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9FDDE5-FA71-4994-9B15-EAA5D4580BA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3FAAB0-2EE6-47B7-96CF-A1B4C85185F2}" type="datetime1">
              <a:rPr lang="en-US" smtClean="0"/>
              <a:pPr/>
              <a:t>9/3/2025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9FDDE5-FA71-4994-9B15-EAA5D4580BA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780337" y="274639"/>
            <a:ext cx="2414588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6575" y="274639"/>
            <a:ext cx="7078663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5951DD-9282-4DCB-A7B7-C0C5CF04F258}" type="datetime1">
              <a:rPr lang="en-US" smtClean="0"/>
              <a:pPr/>
              <a:t>9/3/2025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9FDDE5-FA71-4994-9B15-EAA5D4580BA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3200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5300" y="1600201"/>
            <a:ext cx="89154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95300" y="6356351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6E901C-27A1-4EF0-8A16-ED17B6178925}" type="datetime1">
              <a:rPr lang="en-US" smtClean="0"/>
              <a:pPr/>
              <a:t>9/3/2025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384550" y="6356351"/>
            <a:ext cx="31369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099300" y="6356351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9FDDE5-FA71-4994-9B15-EAA5D4580BA1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0" y="0"/>
            <a:ext cx="9906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TextBox 6"/>
          <p:cNvSpPr txBox="1"/>
          <p:nvPr/>
        </p:nvSpPr>
        <p:spPr>
          <a:xfrm>
            <a:off x="1524001" y="1295402"/>
            <a:ext cx="6705600" cy="754049"/>
          </a:xfrm>
          <a:prstGeom prst="rect">
            <a:avLst/>
          </a:prstGeom>
          <a:noFill/>
        </p:spPr>
        <p:txBody>
          <a:bodyPr wrap="square" lIns="76197" tIns="38098" rIns="76197" bIns="38098" rtlCol="0">
            <a:spAutoFit/>
          </a:bodyPr>
          <a:lstStyle/>
          <a:p>
            <a:pPr algn="ctr"/>
            <a:r>
              <a:rPr lang="en-US" sz="4400" b="1" u="sng" dirty="0">
                <a:solidFill>
                  <a:srgbClr val="002060"/>
                </a:solidFill>
                <a:latin typeface="Old English Text MT" pitchFamily="66" charset="0"/>
              </a:rPr>
              <a:t>Certificate of Appreciation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" y="1981200"/>
            <a:ext cx="9372600" cy="1708156"/>
          </a:xfrm>
          <a:prstGeom prst="rect">
            <a:avLst/>
          </a:prstGeom>
          <a:noFill/>
        </p:spPr>
        <p:txBody>
          <a:bodyPr wrap="square" lIns="76197" tIns="38098" rIns="76197" bIns="38098" rtlCol="0">
            <a:spAutoFit/>
          </a:bodyPr>
          <a:lstStyle/>
          <a:p>
            <a:pPr algn="ctr"/>
            <a:r>
              <a:rPr lang="en-US" sz="2400" b="1" i="1" dirty="0">
                <a:latin typeface="+mj-lt"/>
              </a:rPr>
              <a:t>This Certificate of merit is awarded to </a:t>
            </a:r>
          </a:p>
          <a:p>
            <a:pPr algn="ctr"/>
            <a:r>
              <a:rPr lang="en-US" sz="2700" b="1" i="1" dirty="0">
                <a:solidFill>
                  <a:srgbClr val="002060"/>
                </a:solidFill>
                <a:latin typeface="+mj-lt"/>
              </a:rPr>
              <a:t>TARIKUL ISLAM  </a:t>
            </a:r>
          </a:p>
          <a:p>
            <a:pPr algn="ctr"/>
            <a:r>
              <a:rPr lang="en-US" b="1" dirty="0">
                <a:latin typeface="+mj-lt"/>
              </a:rPr>
              <a:t> Saudi Icon – Plumber - #1805</a:t>
            </a:r>
          </a:p>
          <a:p>
            <a:pPr algn="ctr"/>
            <a:endParaRPr lang="en-US" sz="1000" b="1" dirty="0">
              <a:latin typeface="+mj-lt"/>
            </a:endParaRPr>
          </a:p>
          <a:p>
            <a:pPr algn="ctr"/>
            <a:endParaRPr lang="en-US" sz="2700" dirty="0">
              <a:latin typeface="Script MT Bold" pitchFamily="66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048000" y="4430528"/>
            <a:ext cx="4343400" cy="446272"/>
          </a:xfrm>
          <a:prstGeom prst="rect">
            <a:avLst/>
          </a:prstGeom>
          <a:noFill/>
        </p:spPr>
        <p:txBody>
          <a:bodyPr wrap="square" lIns="76197" tIns="38098" rIns="76197" bIns="38098" rtlCol="0">
            <a:spAutoFit/>
          </a:bodyPr>
          <a:lstStyle/>
          <a:p>
            <a:pPr algn="ctr"/>
            <a:r>
              <a:rPr lang="en-US" sz="2400" b="1" i="1" dirty="0">
                <a:latin typeface="Bookman Old Style" pitchFamily="18" charset="0"/>
              </a:rPr>
              <a:t>September 03</a:t>
            </a:r>
            <a:r>
              <a:rPr lang="en-US" sz="2400" b="1" i="1" baseline="30000" dirty="0">
                <a:latin typeface="Bookman Old Style" pitchFamily="18" charset="0"/>
              </a:rPr>
              <a:t>rd</a:t>
            </a:r>
            <a:r>
              <a:rPr lang="en-US" sz="2400" b="1" i="1" dirty="0">
                <a:latin typeface="Bookman Old Style" pitchFamily="18" charset="0"/>
              </a:rPr>
              <a:t>, 2025</a:t>
            </a:r>
          </a:p>
        </p:txBody>
      </p:sp>
      <p:cxnSp>
        <p:nvCxnSpPr>
          <p:cNvPr id="16" name="Straight Connector 15"/>
          <p:cNvCxnSpPr/>
          <p:nvPr/>
        </p:nvCxnSpPr>
        <p:spPr>
          <a:xfrm>
            <a:off x="838200" y="5791200"/>
            <a:ext cx="1778000" cy="1323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2565400" y="4953001"/>
            <a:ext cx="482600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b="1" i="1" dirty="0" err="1">
                <a:solidFill>
                  <a:srgbClr val="002060"/>
                </a:solidFill>
                <a:latin typeface="Bodoni MT" pitchFamily="18" charset="0"/>
              </a:rPr>
              <a:t>Umluj</a:t>
            </a:r>
            <a:r>
              <a:rPr lang="en-US" sz="1500" b="1" i="1" dirty="0">
                <a:solidFill>
                  <a:srgbClr val="002060"/>
                </a:solidFill>
                <a:latin typeface="Bodoni MT" pitchFamily="18" charset="0"/>
              </a:rPr>
              <a:t> , Kingdom of Saudi Arabia</a:t>
            </a:r>
            <a:endParaRPr lang="en-US" sz="1500" i="1" dirty="0">
              <a:solidFill>
                <a:srgbClr val="002060"/>
              </a:solidFill>
              <a:latin typeface="Bodoni MT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85800" y="5867400"/>
            <a:ext cx="2159000" cy="446272"/>
          </a:xfrm>
          <a:prstGeom prst="rect">
            <a:avLst/>
          </a:prstGeom>
          <a:noFill/>
        </p:spPr>
        <p:txBody>
          <a:bodyPr wrap="square" lIns="76197" tIns="38098" rIns="76197" bIns="38098" rtlCol="0">
            <a:spAutoFit/>
          </a:bodyPr>
          <a:lstStyle/>
          <a:p>
            <a:pPr algn="ctr"/>
            <a:r>
              <a:rPr lang="en-US" sz="1200" b="1" dirty="0"/>
              <a:t>Shahid Mehmood</a:t>
            </a:r>
          </a:p>
          <a:p>
            <a:pPr algn="ctr"/>
            <a:r>
              <a:rPr lang="en-US" sz="1200" dirty="0"/>
              <a:t>HSE Manager</a:t>
            </a:r>
          </a:p>
        </p:txBody>
      </p:sp>
      <p:sp>
        <p:nvSpPr>
          <p:cNvPr id="17" name="Rectangle 20"/>
          <p:cNvSpPr>
            <a:spLocks noChangeArrowheads="1"/>
          </p:cNvSpPr>
          <p:nvPr/>
        </p:nvSpPr>
        <p:spPr bwMode="auto">
          <a:xfrm>
            <a:off x="537949" y="2971800"/>
            <a:ext cx="8534400" cy="15240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15965" tIns="15965" rIns="15965" bIns="15965"/>
          <a:lstStyle/>
          <a:p>
            <a:pPr algn="ctr" eaLnBrk="0" hangingPunct="0"/>
            <a:endParaRPr lang="en-US" sz="1500" b="1" dirty="0">
              <a:latin typeface="Albertus Extra Bold" pitchFamily="34" charset="0"/>
            </a:endParaRPr>
          </a:p>
          <a:p>
            <a:pPr algn="ctr" eaLnBrk="0" hangingPunct="0"/>
            <a:r>
              <a:rPr lang="en-US" sz="1800" b="1" dirty="0">
                <a:latin typeface="Bookman Old Style" pitchFamily="18" charset="0"/>
              </a:rPr>
              <a:t>For his outstanding performance and genuine commitment to the Health, Safety and Environmental (HSE) program that </a:t>
            </a:r>
            <a:r>
              <a:rPr lang="en-US" sz="1800" b="1" dirty="0">
                <a:latin typeface="Bookman Old Style" pitchFamily="18" charset="0"/>
                <a:cs typeface="Times New Roman" pitchFamily="18" charset="0"/>
              </a:rPr>
              <a:t>contributed to the successful achievement of a</a:t>
            </a:r>
            <a:r>
              <a:rPr lang="en-US" sz="1800" dirty="0">
                <a:latin typeface="Bookman Old Style" pitchFamily="18" charset="0"/>
                <a:cs typeface="Times New Roman" pitchFamily="18" charset="0"/>
              </a:rPr>
              <a:t> </a:t>
            </a:r>
          </a:p>
          <a:p>
            <a:pPr algn="ctr" eaLnBrk="0" hangingPunct="0"/>
            <a:r>
              <a:rPr lang="en-US" sz="1800" b="1" i="1" dirty="0">
                <a:latin typeface="Bookman Old Style" pitchFamily="18" charset="0"/>
                <a:cs typeface="Times New Roman" pitchFamily="18" charset="0"/>
              </a:rPr>
              <a:t>  “Safe Work Environment”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5400" y="5239435"/>
            <a:ext cx="482600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b="1" i="1" dirty="0">
                <a:solidFill>
                  <a:srgbClr val="002060"/>
                </a:solidFill>
                <a:latin typeface="Bodoni MT" pitchFamily="18" charset="0"/>
              </a:rPr>
              <a:t>Shura Island – Fit out Project</a:t>
            </a:r>
            <a:endParaRPr lang="en-US" sz="1500" i="1" dirty="0">
              <a:solidFill>
                <a:srgbClr val="002060"/>
              </a:solidFill>
              <a:latin typeface="Bodoni MT" pitchFamily="18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086600" y="5849034"/>
            <a:ext cx="2159000" cy="446272"/>
          </a:xfrm>
          <a:prstGeom prst="rect">
            <a:avLst/>
          </a:prstGeom>
          <a:noFill/>
        </p:spPr>
        <p:txBody>
          <a:bodyPr wrap="square" lIns="76197" tIns="38098" rIns="76197" bIns="38098" rtlCol="0">
            <a:spAutoFit/>
          </a:bodyPr>
          <a:lstStyle/>
          <a:p>
            <a:pPr algn="ctr"/>
            <a:r>
              <a:rPr lang="en-US" sz="1200" b="1" dirty="0">
                <a:solidFill>
                  <a:srgbClr val="000000"/>
                </a:solidFill>
                <a:latin typeface="Calibri" panose="020F0502020204030204" pitchFamily="34" charset="0"/>
              </a:rPr>
              <a:t>Ahmad Hanafy </a:t>
            </a:r>
          </a:p>
          <a:p>
            <a:pPr algn="ctr"/>
            <a:r>
              <a:rPr lang="en-US" sz="1200" dirty="0">
                <a:solidFill>
                  <a:srgbClr val="000000"/>
                </a:solidFill>
                <a:latin typeface="Calibri" panose="020F0502020204030204" pitchFamily="34" charset="0"/>
              </a:rPr>
              <a:t>Construction Manager</a:t>
            </a:r>
            <a:endParaRPr lang="en-US" sz="1000" dirty="0"/>
          </a:p>
        </p:txBody>
      </p:sp>
      <p:cxnSp>
        <p:nvCxnSpPr>
          <p:cNvPr id="21" name="Straight Connector 20"/>
          <p:cNvCxnSpPr/>
          <p:nvPr/>
        </p:nvCxnSpPr>
        <p:spPr>
          <a:xfrm>
            <a:off x="7289800" y="5866077"/>
            <a:ext cx="1778000" cy="1323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Picture 2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7125" y="635095"/>
            <a:ext cx="1301467" cy="526269"/>
          </a:xfrm>
          <a:prstGeom prst="rect">
            <a:avLst/>
          </a:prstGeom>
        </p:spPr>
      </p:pic>
      <p:pic>
        <p:nvPicPr>
          <p:cNvPr id="23" name="Picture 22"/>
          <p:cNvPicPr/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604" y="588831"/>
            <a:ext cx="1850373" cy="65902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7961110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100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75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135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100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75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build="p" autoUpdateAnimBg="0" advAuto="100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0" y="0"/>
            <a:ext cx="9906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TextBox 6"/>
          <p:cNvSpPr txBox="1"/>
          <p:nvPr/>
        </p:nvSpPr>
        <p:spPr>
          <a:xfrm>
            <a:off x="1524001" y="1295402"/>
            <a:ext cx="6705600" cy="754049"/>
          </a:xfrm>
          <a:prstGeom prst="rect">
            <a:avLst/>
          </a:prstGeom>
          <a:noFill/>
        </p:spPr>
        <p:txBody>
          <a:bodyPr wrap="square" lIns="76197" tIns="38098" rIns="76197" bIns="38098" rtlCol="0">
            <a:spAutoFit/>
          </a:bodyPr>
          <a:lstStyle/>
          <a:p>
            <a:pPr algn="ctr"/>
            <a:r>
              <a:rPr lang="en-US" sz="4400" b="1" u="sng" dirty="0">
                <a:solidFill>
                  <a:srgbClr val="002060"/>
                </a:solidFill>
                <a:latin typeface="Old English Text MT" pitchFamily="66" charset="0"/>
              </a:rPr>
              <a:t>Certificate of Appreciation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" y="1981200"/>
            <a:ext cx="9372600" cy="1708156"/>
          </a:xfrm>
          <a:prstGeom prst="rect">
            <a:avLst/>
          </a:prstGeom>
          <a:noFill/>
        </p:spPr>
        <p:txBody>
          <a:bodyPr wrap="square" lIns="76197" tIns="38098" rIns="76197" bIns="38098" rtlCol="0">
            <a:spAutoFit/>
          </a:bodyPr>
          <a:lstStyle/>
          <a:p>
            <a:pPr algn="ctr"/>
            <a:r>
              <a:rPr lang="en-US" sz="2400" b="1" i="1" dirty="0">
                <a:latin typeface="+mj-lt"/>
              </a:rPr>
              <a:t>This Certificate of merit is awarded to </a:t>
            </a:r>
          </a:p>
          <a:p>
            <a:pPr algn="ctr"/>
            <a:r>
              <a:rPr lang="en-US" sz="2700" b="1" i="1" dirty="0" err="1">
                <a:solidFill>
                  <a:srgbClr val="002060"/>
                </a:solidFill>
                <a:latin typeface="+mj-lt"/>
              </a:rPr>
              <a:t>Nazarat</a:t>
            </a:r>
            <a:r>
              <a:rPr lang="en-US" sz="2700" b="1" i="1" dirty="0">
                <a:solidFill>
                  <a:srgbClr val="002060"/>
                </a:solidFill>
                <a:latin typeface="+mj-lt"/>
              </a:rPr>
              <a:t> Munir  </a:t>
            </a:r>
          </a:p>
          <a:p>
            <a:pPr algn="ctr"/>
            <a:r>
              <a:rPr lang="en-US" b="1" dirty="0">
                <a:latin typeface="+mj-lt"/>
              </a:rPr>
              <a:t> Saudi Icon – Painter  - #4790</a:t>
            </a:r>
          </a:p>
          <a:p>
            <a:pPr algn="ctr"/>
            <a:endParaRPr lang="en-US" sz="1000" b="1" dirty="0">
              <a:latin typeface="+mj-lt"/>
            </a:endParaRPr>
          </a:p>
          <a:p>
            <a:pPr algn="ctr"/>
            <a:endParaRPr lang="en-US" sz="2700" dirty="0">
              <a:latin typeface="Script MT Bold" pitchFamily="66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048000" y="4430528"/>
            <a:ext cx="4343400" cy="446272"/>
          </a:xfrm>
          <a:prstGeom prst="rect">
            <a:avLst/>
          </a:prstGeom>
          <a:noFill/>
        </p:spPr>
        <p:txBody>
          <a:bodyPr wrap="square" lIns="76197" tIns="38098" rIns="76197" bIns="38098" rtlCol="0">
            <a:spAutoFit/>
          </a:bodyPr>
          <a:lstStyle/>
          <a:p>
            <a:pPr algn="ctr"/>
            <a:r>
              <a:rPr lang="en-US" sz="2400" b="1" i="1" dirty="0">
                <a:latin typeface="Bookman Old Style" pitchFamily="18" charset="0"/>
              </a:rPr>
              <a:t>September 03</a:t>
            </a:r>
            <a:r>
              <a:rPr lang="en-US" sz="2400" b="1" i="1" baseline="30000" dirty="0">
                <a:latin typeface="Bookman Old Style" pitchFamily="18" charset="0"/>
              </a:rPr>
              <a:t>rd</a:t>
            </a:r>
            <a:r>
              <a:rPr lang="en-US" sz="2400" b="1" i="1" dirty="0">
                <a:latin typeface="Bookman Old Style" pitchFamily="18" charset="0"/>
              </a:rPr>
              <a:t>, 2025</a:t>
            </a:r>
          </a:p>
        </p:txBody>
      </p:sp>
      <p:cxnSp>
        <p:nvCxnSpPr>
          <p:cNvPr id="16" name="Straight Connector 15"/>
          <p:cNvCxnSpPr/>
          <p:nvPr/>
        </p:nvCxnSpPr>
        <p:spPr>
          <a:xfrm>
            <a:off x="838200" y="5791200"/>
            <a:ext cx="1778000" cy="1323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2565400" y="4953001"/>
            <a:ext cx="482600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b="1" i="1" dirty="0" err="1">
                <a:solidFill>
                  <a:srgbClr val="002060"/>
                </a:solidFill>
                <a:latin typeface="Bodoni MT" pitchFamily="18" charset="0"/>
              </a:rPr>
              <a:t>Umluj</a:t>
            </a:r>
            <a:r>
              <a:rPr lang="en-US" sz="1500" b="1" i="1" dirty="0">
                <a:solidFill>
                  <a:srgbClr val="002060"/>
                </a:solidFill>
                <a:latin typeface="Bodoni MT" pitchFamily="18" charset="0"/>
              </a:rPr>
              <a:t> , Kingdom of Saudi Arabia</a:t>
            </a:r>
            <a:endParaRPr lang="en-US" sz="1500" i="1" dirty="0">
              <a:solidFill>
                <a:srgbClr val="002060"/>
              </a:solidFill>
              <a:latin typeface="Bodoni MT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85800" y="5867400"/>
            <a:ext cx="2159000" cy="446272"/>
          </a:xfrm>
          <a:prstGeom prst="rect">
            <a:avLst/>
          </a:prstGeom>
          <a:noFill/>
        </p:spPr>
        <p:txBody>
          <a:bodyPr wrap="square" lIns="76197" tIns="38098" rIns="76197" bIns="38098" rtlCol="0">
            <a:spAutoFit/>
          </a:bodyPr>
          <a:lstStyle/>
          <a:p>
            <a:pPr algn="ctr"/>
            <a:r>
              <a:rPr lang="en-US" sz="1200" b="1" dirty="0"/>
              <a:t>Shahid Mehmood</a:t>
            </a:r>
          </a:p>
          <a:p>
            <a:pPr algn="ctr"/>
            <a:r>
              <a:rPr lang="en-US" sz="1200" dirty="0"/>
              <a:t>HSE Manager</a:t>
            </a:r>
          </a:p>
        </p:txBody>
      </p:sp>
      <p:sp>
        <p:nvSpPr>
          <p:cNvPr id="17" name="Rectangle 20"/>
          <p:cNvSpPr>
            <a:spLocks noChangeArrowheads="1"/>
          </p:cNvSpPr>
          <p:nvPr/>
        </p:nvSpPr>
        <p:spPr bwMode="auto">
          <a:xfrm>
            <a:off x="537949" y="2971800"/>
            <a:ext cx="8534400" cy="15240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15965" tIns="15965" rIns="15965" bIns="15965"/>
          <a:lstStyle/>
          <a:p>
            <a:pPr algn="ctr" eaLnBrk="0" hangingPunct="0"/>
            <a:endParaRPr lang="en-US" sz="1500" b="1" dirty="0">
              <a:latin typeface="Albertus Extra Bold" pitchFamily="34" charset="0"/>
            </a:endParaRPr>
          </a:p>
          <a:p>
            <a:pPr algn="ctr" eaLnBrk="0" hangingPunct="0"/>
            <a:r>
              <a:rPr lang="en-US" sz="1800" b="1" dirty="0">
                <a:latin typeface="Bookman Old Style" pitchFamily="18" charset="0"/>
              </a:rPr>
              <a:t>For his outstanding performance and genuine commitment to the Health, Safety and Environmental (HSE) program that </a:t>
            </a:r>
            <a:r>
              <a:rPr lang="en-US" sz="1800" b="1" dirty="0">
                <a:latin typeface="Bookman Old Style" pitchFamily="18" charset="0"/>
                <a:cs typeface="Times New Roman" pitchFamily="18" charset="0"/>
              </a:rPr>
              <a:t>contributed to the successful achievement of a</a:t>
            </a:r>
            <a:r>
              <a:rPr lang="en-US" sz="1800" dirty="0">
                <a:latin typeface="Bookman Old Style" pitchFamily="18" charset="0"/>
                <a:cs typeface="Times New Roman" pitchFamily="18" charset="0"/>
              </a:rPr>
              <a:t> </a:t>
            </a:r>
          </a:p>
          <a:p>
            <a:pPr algn="ctr" eaLnBrk="0" hangingPunct="0"/>
            <a:r>
              <a:rPr lang="en-US" sz="1800" b="1" i="1" dirty="0">
                <a:latin typeface="Bookman Old Style" pitchFamily="18" charset="0"/>
                <a:cs typeface="Times New Roman" pitchFamily="18" charset="0"/>
              </a:rPr>
              <a:t>  “Safe Work Environment”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5400" y="5239435"/>
            <a:ext cx="482600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b="1" i="1" dirty="0">
                <a:solidFill>
                  <a:srgbClr val="002060"/>
                </a:solidFill>
                <a:latin typeface="Bodoni MT" pitchFamily="18" charset="0"/>
              </a:rPr>
              <a:t>Shura Island – Fit out Project</a:t>
            </a:r>
            <a:endParaRPr lang="en-US" sz="1500" i="1" dirty="0">
              <a:solidFill>
                <a:srgbClr val="002060"/>
              </a:solidFill>
              <a:latin typeface="Bodoni MT" pitchFamily="18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086600" y="5849034"/>
            <a:ext cx="2159000" cy="446272"/>
          </a:xfrm>
          <a:prstGeom prst="rect">
            <a:avLst/>
          </a:prstGeom>
          <a:noFill/>
        </p:spPr>
        <p:txBody>
          <a:bodyPr wrap="square" lIns="76197" tIns="38098" rIns="76197" bIns="38098" rtlCol="0">
            <a:spAutoFit/>
          </a:bodyPr>
          <a:lstStyle/>
          <a:p>
            <a:pPr algn="ctr"/>
            <a:r>
              <a:rPr lang="en-US" sz="1200" b="1" dirty="0">
                <a:solidFill>
                  <a:srgbClr val="000000"/>
                </a:solidFill>
                <a:latin typeface="Calibri" panose="020F0502020204030204" pitchFamily="34" charset="0"/>
              </a:rPr>
              <a:t>Ahmad Hanafy </a:t>
            </a:r>
          </a:p>
          <a:p>
            <a:pPr algn="ctr"/>
            <a:r>
              <a:rPr lang="en-US" sz="1200" dirty="0">
                <a:solidFill>
                  <a:srgbClr val="000000"/>
                </a:solidFill>
                <a:latin typeface="Calibri" panose="020F0502020204030204" pitchFamily="34" charset="0"/>
              </a:rPr>
              <a:t>Construction Manager</a:t>
            </a:r>
            <a:endParaRPr lang="en-US" sz="1000" dirty="0"/>
          </a:p>
        </p:txBody>
      </p:sp>
      <p:cxnSp>
        <p:nvCxnSpPr>
          <p:cNvPr id="21" name="Straight Connector 20"/>
          <p:cNvCxnSpPr/>
          <p:nvPr/>
        </p:nvCxnSpPr>
        <p:spPr>
          <a:xfrm>
            <a:off x="7289800" y="5866077"/>
            <a:ext cx="1778000" cy="1323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Picture 2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7125" y="635095"/>
            <a:ext cx="1301467" cy="526269"/>
          </a:xfrm>
          <a:prstGeom prst="rect">
            <a:avLst/>
          </a:prstGeom>
        </p:spPr>
      </p:pic>
      <p:pic>
        <p:nvPicPr>
          <p:cNvPr id="23" name="Picture 22"/>
          <p:cNvPicPr/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604" y="588831"/>
            <a:ext cx="1850373" cy="65902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490818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100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75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135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100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75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build="p" autoUpdateAnimBg="0" advAuto="100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0" y="0"/>
            <a:ext cx="9906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TextBox 6"/>
          <p:cNvSpPr txBox="1"/>
          <p:nvPr/>
        </p:nvSpPr>
        <p:spPr>
          <a:xfrm>
            <a:off x="1524001" y="1295402"/>
            <a:ext cx="6705600" cy="754049"/>
          </a:xfrm>
          <a:prstGeom prst="rect">
            <a:avLst/>
          </a:prstGeom>
          <a:noFill/>
        </p:spPr>
        <p:txBody>
          <a:bodyPr wrap="square" lIns="76197" tIns="38098" rIns="76197" bIns="38098" rtlCol="0">
            <a:spAutoFit/>
          </a:bodyPr>
          <a:lstStyle/>
          <a:p>
            <a:pPr algn="ctr"/>
            <a:r>
              <a:rPr lang="en-US" sz="4400" b="1" u="sng" dirty="0">
                <a:solidFill>
                  <a:srgbClr val="002060"/>
                </a:solidFill>
                <a:latin typeface="Old English Text MT" pitchFamily="66" charset="0"/>
              </a:rPr>
              <a:t>Certificate of Appreciation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" y="1981200"/>
            <a:ext cx="9372600" cy="1708156"/>
          </a:xfrm>
          <a:prstGeom prst="rect">
            <a:avLst/>
          </a:prstGeom>
          <a:noFill/>
        </p:spPr>
        <p:txBody>
          <a:bodyPr wrap="square" lIns="76197" tIns="38098" rIns="76197" bIns="38098" rtlCol="0">
            <a:spAutoFit/>
          </a:bodyPr>
          <a:lstStyle/>
          <a:p>
            <a:pPr algn="ctr"/>
            <a:r>
              <a:rPr lang="en-US" sz="2400" b="1" i="1" dirty="0">
                <a:latin typeface="+mj-lt"/>
              </a:rPr>
              <a:t>This Certificate of merit is awarded to </a:t>
            </a:r>
          </a:p>
          <a:p>
            <a:pPr algn="ctr"/>
            <a:r>
              <a:rPr lang="en-US" sz="2700" b="1" i="1" dirty="0">
                <a:solidFill>
                  <a:srgbClr val="002060"/>
                </a:solidFill>
                <a:latin typeface="+mj-lt"/>
              </a:rPr>
              <a:t>Muhammad Usman  </a:t>
            </a:r>
          </a:p>
          <a:p>
            <a:pPr algn="ctr"/>
            <a:r>
              <a:rPr lang="en-US" b="1" dirty="0">
                <a:latin typeface="+mj-lt"/>
              </a:rPr>
              <a:t> Saudi Icon – Painter  - </a:t>
            </a:r>
            <a:r>
              <a:rPr lang="en-US" b="1">
                <a:latin typeface="+mj-lt"/>
              </a:rPr>
              <a:t>#4789</a:t>
            </a:r>
            <a:endParaRPr lang="en-US" b="1" dirty="0">
              <a:latin typeface="+mj-lt"/>
            </a:endParaRPr>
          </a:p>
          <a:p>
            <a:pPr algn="ctr"/>
            <a:endParaRPr lang="en-US" sz="1000" b="1" dirty="0">
              <a:latin typeface="+mj-lt"/>
            </a:endParaRPr>
          </a:p>
          <a:p>
            <a:pPr algn="ctr"/>
            <a:endParaRPr lang="en-US" sz="2700" dirty="0">
              <a:latin typeface="Script MT Bold" pitchFamily="66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048000" y="4430528"/>
            <a:ext cx="4343400" cy="446272"/>
          </a:xfrm>
          <a:prstGeom prst="rect">
            <a:avLst/>
          </a:prstGeom>
          <a:noFill/>
        </p:spPr>
        <p:txBody>
          <a:bodyPr wrap="square" lIns="76197" tIns="38098" rIns="76197" bIns="38098" rtlCol="0">
            <a:spAutoFit/>
          </a:bodyPr>
          <a:lstStyle/>
          <a:p>
            <a:pPr algn="ctr"/>
            <a:r>
              <a:rPr lang="en-US" sz="2400" b="1" i="1" dirty="0">
                <a:latin typeface="Bookman Old Style" pitchFamily="18" charset="0"/>
              </a:rPr>
              <a:t>September 03</a:t>
            </a:r>
            <a:r>
              <a:rPr lang="en-US" sz="2400" b="1" i="1" baseline="30000" dirty="0">
                <a:latin typeface="Bookman Old Style" pitchFamily="18" charset="0"/>
              </a:rPr>
              <a:t>rd</a:t>
            </a:r>
            <a:r>
              <a:rPr lang="en-US" sz="2400" b="1" i="1" dirty="0">
                <a:latin typeface="Bookman Old Style" pitchFamily="18" charset="0"/>
              </a:rPr>
              <a:t>, 2025</a:t>
            </a:r>
          </a:p>
        </p:txBody>
      </p:sp>
      <p:cxnSp>
        <p:nvCxnSpPr>
          <p:cNvPr id="16" name="Straight Connector 15"/>
          <p:cNvCxnSpPr/>
          <p:nvPr/>
        </p:nvCxnSpPr>
        <p:spPr>
          <a:xfrm>
            <a:off x="838200" y="5791200"/>
            <a:ext cx="1778000" cy="1323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2565400" y="4953001"/>
            <a:ext cx="482600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b="1" i="1" dirty="0" err="1">
                <a:solidFill>
                  <a:srgbClr val="002060"/>
                </a:solidFill>
                <a:latin typeface="Bodoni MT" pitchFamily="18" charset="0"/>
              </a:rPr>
              <a:t>Umluj</a:t>
            </a:r>
            <a:r>
              <a:rPr lang="en-US" sz="1500" b="1" i="1" dirty="0">
                <a:solidFill>
                  <a:srgbClr val="002060"/>
                </a:solidFill>
                <a:latin typeface="Bodoni MT" pitchFamily="18" charset="0"/>
              </a:rPr>
              <a:t> , Kingdom of Saudi Arabia</a:t>
            </a:r>
            <a:endParaRPr lang="en-US" sz="1500" i="1" dirty="0">
              <a:solidFill>
                <a:srgbClr val="002060"/>
              </a:solidFill>
              <a:latin typeface="Bodoni MT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85800" y="5867400"/>
            <a:ext cx="2159000" cy="446272"/>
          </a:xfrm>
          <a:prstGeom prst="rect">
            <a:avLst/>
          </a:prstGeom>
          <a:noFill/>
        </p:spPr>
        <p:txBody>
          <a:bodyPr wrap="square" lIns="76197" tIns="38098" rIns="76197" bIns="38098" rtlCol="0">
            <a:spAutoFit/>
          </a:bodyPr>
          <a:lstStyle/>
          <a:p>
            <a:pPr algn="ctr"/>
            <a:r>
              <a:rPr lang="en-US" sz="1200" b="1" dirty="0"/>
              <a:t>Shahid Mehmood</a:t>
            </a:r>
          </a:p>
          <a:p>
            <a:pPr algn="ctr"/>
            <a:r>
              <a:rPr lang="en-US" sz="1200" dirty="0"/>
              <a:t>HSE Manager</a:t>
            </a:r>
          </a:p>
        </p:txBody>
      </p:sp>
      <p:sp>
        <p:nvSpPr>
          <p:cNvPr id="17" name="Rectangle 20"/>
          <p:cNvSpPr>
            <a:spLocks noChangeArrowheads="1"/>
          </p:cNvSpPr>
          <p:nvPr/>
        </p:nvSpPr>
        <p:spPr bwMode="auto">
          <a:xfrm>
            <a:off x="537949" y="2971800"/>
            <a:ext cx="8534400" cy="15240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15965" tIns="15965" rIns="15965" bIns="15965"/>
          <a:lstStyle/>
          <a:p>
            <a:pPr algn="ctr" eaLnBrk="0" hangingPunct="0"/>
            <a:endParaRPr lang="en-US" sz="1500" b="1" dirty="0">
              <a:latin typeface="Albertus Extra Bold" pitchFamily="34" charset="0"/>
            </a:endParaRPr>
          </a:p>
          <a:p>
            <a:pPr algn="ctr" eaLnBrk="0" hangingPunct="0"/>
            <a:r>
              <a:rPr lang="en-US" sz="1800" b="1" dirty="0">
                <a:latin typeface="Bookman Old Style" pitchFamily="18" charset="0"/>
              </a:rPr>
              <a:t>For his outstanding performance and genuine commitment to the Health, Safety and Environmental (HSE) program that </a:t>
            </a:r>
            <a:r>
              <a:rPr lang="en-US" sz="1800" b="1" dirty="0">
                <a:latin typeface="Bookman Old Style" pitchFamily="18" charset="0"/>
                <a:cs typeface="Times New Roman" pitchFamily="18" charset="0"/>
              </a:rPr>
              <a:t>contributed to the successful achievement of a</a:t>
            </a:r>
            <a:r>
              <a:rPr lang="en-US" sz="1800" dirty="0">
                <a:latin typeface="Bookman Old Style" pitchFamily="18" charset="0"/>
                <a:cs typeface="Times New Roman" pitchFamily="18" charset="0"/>
              </a:rPr>
              <a:t> </a:t>
            </a:r>
          </a:p>
          <a:p>
            <a:pPr algn="ctr" eaLnBrk="0" hangingPunct="0"/>
            <a:r>
              <a:rPr lang="en-US" sz="1800" b="1" i="1" dirty="0">
                <a:latin typeface="Bookman Old Style" pitchFamily="18" charset="0"/>
                <a:cs typeface="Times New Roman" pitchFamily="18" charset="0"/>
              </a:rPr>
              <a:t>  “Safe Work Environment”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5400" y="5239435"/>
            <a:ext cx="482600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b="1" i="1" dirty="0">
                <a:solidFill>
                  <a:srgbClr val="002060"/>
                </a:solidFill>
                <a:latin typeface="Bodoni MT" pitchFamily="18" charset="0"/>
              </a:rPr>
              <a:t>Shura Island – Fit out Project</a:t>
            </a:r>
            <a:endParaRPr lang="en-US" sz="1500" i="1" dirty="0">
              <a:solidFill>
                <a:srgbClr val="002060"/>
              </a:solidFill>
              <a:latin typeface="Bodoni MT" pitchFamily="18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086600" y="5849034"/>
            <a:ext cx="2159000" cy="446272"/>
          </a:xfrm>
          <a:prstGeom prst="rect">
            <a:avLst/>
          </a:prstGeom>
          <a:noFill/>
        </p:spPr>
        <p:txBody>
          <a:bodyPr wrap="square" lIns="76197" tIns="38098" rIns="76197" bIns="38098" rtlCol="0">
            <a:spAutoFit/>
          </a:bodyPr>
          <a:lstStyle/>
          <a:p>
            <a:pPr algn="ctr"/>
            <a:r>
              <a:rPr lang="en-US" sz="1200" b="1" dirty="0">
                <a:solidFill>
                  <a:srgbClr val="000000"/>
                </a:solidFill>
                <a:latin typeface="Calibri" panose="020F0502020204030204" pitchFamily="34" charset="0"/>
              </a:rPr>
              <a:t>Ahmad Hanafy </a:t>
            </a:r>
          </a:p>
          <a:p>
            <a:pPr algn="ctr"/>
            <a:r>
              <a:rPr lang="en-US" sz="1200" dirty="0">
                <a:solidFill>
                  <a:srgbClr val="000000"/>
                </a:solidFill>
                <a:latin typeface="Calibri" panose="020F0502020204030204" pitchFamily="34" charset="0"/>
              </a:rPr>
              <a:t>Construction Manager</a:t>
            </a:r>
            <a:endParaRPr lang="en-US" sz="1000" dirty="0"/>
          </a:p>
        </p:txBody>
      </p:sp>
      <p:cxnSp>
        <p:nvCxnSpPr>
          <p:cNvPr id="21" name="Straight Connector 20"/>
          <p:cNvCxnSpPr/>
          <p:nvPr/>
        </p:nvCxnSpPr>
        <p:spPr>
          <a:xfrm>
            <a:off x="7289800" y="5866077"/>
            <a:ext cx="1778000" cy="1323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Picture 2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7125" y="635095"/>
            <a:ext cx="1301467" cy="526269"/>
          </a:xfrm>
          <a:prstGeom prst="rect">
            <a:avLst/>
          </a:prstGeom>
        </p:spPr>
      </p:pic>
      <p:pic>
        <p:nvPicPr>
          <p:cNvPr id="23" name="Picture 22"/>
          <p:cNvPicPr/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604" y="588831"/>
            <a:ext cx="1850373" cy="65902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9502165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100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75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135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100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75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build="p" autoUpdateAnimBg="0" advAuto="100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4609</TotalTime>
  <Words>228</Words>
  <Application>Microsoft Office PowerPoint</Application>
  <PresentationFormat>A4 Paper (210x297 mm)</PresentationFormat>
  <Paragraphs>42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11" baseType="lpstr">
      <vt:lpstr>Albertus Extra Bold</vt:lpstr>
      <vt:lpstr>Arial</vt:lpstr>
      <vt:lpstr>Bodoni MT</vt:lpstr>
      <vt:lpstr>Bookman Old Style</vt:lpstr>
      <vt:lpstr>Calibri</vt:lpstr>
      <vt:lpstr>Old English Text MT</vt:lpstr>
      <vt:lpstr>Script MT Bold</vt:lpstr>
      <vt:lpstr>Office Theme</vt:lpstr>
      <vt:lpstr>PowerPoint Presentation</vt:lpstr>
      <vt:lpstr>PowerPoint Presentation</vt:lpstr>
      <vt:lpstr>PowerPoint Presentation</vt:lpstr>
    </vt:vector>
  </TitlesOfParts>
  <Company>KAFD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c.axalan</dc:creator>
  <cp:lastModifiedBy>servadmin</cp:lastModifiedBy>
  <cp:revision>430</cp:revision>
  <cp:lastPrinted>2025-09-03T06:10:39Z</cp:lastPrinted>
  <dcterms:created xsi:type="dcterms:W3CDTF">2013-11-23T05:02:13Z</dcterms:created>
  <dcterms:modified xsi:type="dcterms:W3CDTF">2025-09-03T06:11:11Z</dcterms:modified>
</cp:coreProperties>
</file>